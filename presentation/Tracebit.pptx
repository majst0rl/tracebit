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8" r:id="rId2"/>
    <p:sldId id="269" r:id="rId3"/>
    <p:sldId id="278" r:id="rId4"/>
    <p:sldId id="280" r:id="rId5"/>
    <p:sldId id="281" r:id="rId6"/>
    <p:sldId id="282" r:id="rId7"/>
    <p:sldId id="284" r:id="rId8"/>
    <p:sldId id="285" r:id="rId9"/>
    <p:sldId id="286" r:id="rId10"/>
    <p:sldId id="287" r:id="rId11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6247" autoAdjust="0"/>
  </p:normalViewPr>
  <p:slideViewPr>
    <p:cSldViewPr snapToGrid="0">
      <p:cViewPr varScale="1">
        <p:scale>
          <a:sx n="102" d="100"/>
          <a:sy n="102" d="100"/>
        </p:scale>
        <p:origin x="150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642F09-C5BB-43AE-A757-D7D94006A9B6}" type="datetime1">
              <a:rPr lang="en-GB" smtClean="0"/>
              <a:t>07/07/2025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078EF9-7F2B-4B20-A25C-9E80C16977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D30482-E2AB-4FA3-8D69-0517ED99A6BC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AAF9CF-D1E5-49FD-94F7-B246BB67E246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762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826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rtlCol="0" anchor="t" anchorCtr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F711B1-A3C2-41BA-AF99-C5A793A0025D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4603971A-3F8D-4D0C-8042-417B54F9414A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A41AC1-26B7-4D86-8030-63DE17803AA4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1D2669-6B15-4CC5-8DA0-68AB9CB693E7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A9457B-19F6-48E1-95F0-173D5B4F4C23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71AF40-E703-4CC1-8297-47E3A4474CF0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rtlCol="0"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rtlCol="0"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6EA81A-3216-4449-99AE-DB4275625A28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EC1E14-BFC2-4A38-9E7A-C96D84876C6F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EA3D40-334C-4813-B67C-16DE413DA48C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rtlCol="0" anchor="ctr">
            <a:normAutofit/>
          </a:bodyPr>
          <a:lstStyle>
            <a:lvl1pPr algn="l">
              <a:defRPr sz="30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886CA-6B4C-4DA1-BBDF-866DBFCEC4C4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DA8D78-8472-450E-B1A7-1D198AB898CC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B9FEAC-1403-45B2-8ED0-DD643F47D300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F9148DFD-06FC-4733-B3E1-5EACFB38C66E}" type="datetime1">
              <a:rPr lang="en-GB" noProof="0" smtClean="0"/>
              <a:t>07/07/2025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5D99DD2A-B520-4620-9B43-64B657BA2D4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jp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ajst0rL/TraceBit/tree/Master/Documentation" TargetMode="External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hyperlink" Target="https://github.com/Majst0rL/TraceBit.git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trace-bit.onrender.com/" TargetMode="External"/><Relationship Id="rId5" Type="http://schemas.openxmlformats.org/officeDocument/2006/relationships/image" Target="../media/image32.png"/><Relationship Id="rId4" Type="http://schemas.openxmlformats.org/officeDocument/2006/relationships/hyperlink" Target="https://www.youtube.com/watch?v=vRnXrCfuAvo&amp;ab_channel=TraceBit" TargetMode="External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6499" y="1442277"/>
            <a:ext cx="8683625" cy="2421464"/>
          </a:xfrm>
        </p:spPr>
        <p:txBody>
          <a:bodyPr rtlCol="0"/>
          <a:lstStyle/>
          <a:p>
            <a:pPr rtl="0"/>
            <a:r>
              <a:rPr lang="en-GB" dirty="0" err="1"/>
              <a:t>Tracebit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3404" y="3863741"/>
            <a:ext cx="8886720" cy="886952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GB" dirty="0"/>
              <a:t>Luka </a:t>
            </a:r>
            <a:r>
              <a:rPr lang="en-GB" dirty="0" err="1"/>
              <a:t>majstorovi</a:t>
            </a:r>
            <a:r>
              <a:rPr lang="sr-Latn-RS" dirty="0"/>
              <a:t>ć &amp; izidor robnik</a:t>
            </a:r>
          </a:p>
          <a:p>
            <a:r>
              <a:rPr lang="en-GB" dirty="0"/>
              <a:t>FERI UM – </a:t>
            </a:r>
            <a:r>
              <a:rPr lang="en-GB" dirty="0" err="1"/>
              <a:t>Informatika</a:t>
            </a:r>
            <a:r>
              <a:rPr lang="en-GB" dirty="0"/>
              <a:t> in </a:t>
            </a:r>
            <a:r>
              <a:rPr lang="en-GB" dirty="0" err="1"/>
              <a:t>podatkovne</a:t>
            </a:r>
            <a:r>
              <a:rPr lang="en-GB" dirty="0"/>
              <a:t> </a:t>
            </a:r>
            <a:r>
              <a:rPr lang="en-GB" dirty="0" err="1"/>
              <a:t>tehnologije</a:t>
            </a:r>
            <a:endParaRPr lang="en-GB" dirty="0"/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2E04-E3CE-4175-B0D3-33D69BCB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01" y="2799000"/>
            <a:ext cx="3814235" cy="1260000"/>
          </a:xfrm>
        </p:spPr>
        <p:txBody>
          <a:bodyPr rtlCol="0"/>
          <a:lstStyle/>
          <a:p>
            <a:r>
              <a:rPr lang="en-GB" dirty="0" err="1"/>
              <a:t>Namen</a:t>
            </a:r>
            <a:r>
              <a:rPr lang="en-GB" dirty="0"/>
              <a:t> </a:t>
            </a:r>
            <a:r>
              <a:rPr lang="en-GB" dirty="0" err="1"/>
              <a:t>projekta</a:t>
            </a:r>
            <a:endParaRPr lang="en-GB" dirty="0"/>
          </a:p>
        </p:txBody>
      </p:sp>
      <p:pic>
        <p:nvPicPr>
          <p:cNvPr id="8" name="Content Placeholder 7" descr="A fingerprint with text on it&#10;&#10;AI-generated content may be incorrect.">
            <a:extLst>
              <a:ext uri="{FF2B5EF4-FFF2-40B4-BE49-F238E27FC236}">
                <a16:creationId xmlns:a16="http://schemas.microsoft.com/office/drawing/2014/main" id="{8C64AC70-2EAA-9734-D7FA-F0F682719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66684" y="226721"/>
            <a:ext cx="7633615" cy="4293908"/>
          </a:xfr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4E949D73-375C-0225-5BAF-986A7E4BA2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366684" y="4901652"/>
            <a:ext cx="7119824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Razviti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zajem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tehničnih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podatkov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brskalnikih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Povečati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zavedanje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spletni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izpostavljenosti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Omogočiti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vpogled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zgodovino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zaznavanje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anomalij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296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CBE2-7CEF-5ACB-3856-394EA23B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433282"/>
            <a:ext cx="10840914" cy="1260000"/>
          </a:xfrm>
        </p:spPr>
        <p:txBody>
          <a:bodyPr/>
          <a:lstStyle/>
          <a:p>
            <a:r>
              <a:rPr lang="sr-Latn-RS" dirty="0"/>
              <a:t>Druge </a:t>
            </a:r>
            <a:r>
              <a:rPr lang="en-GB" dirty="0" err="1"/>
              <a:t>funkcionalnosti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BDC73-1480-E34C-3416-5CF6BAABEDB5}"/>
              </a:ext>
            </a:extLst>
          </p:cNvPr>
          <p:cNvSpPr txBox="1"/>
          <p:nvPr/>
        </p:nvSpPr>
        <p:spPr>
          <a:xfrm>
            <a:off x="685801" y="1571650"/>
            <a:ext cx="7233070" cy="1429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Zajem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fingerprinta</a:t>
            </a:r>
            <a:r>
              <a:rPr lang="en-US" altLang="en-US" sz="2000" dirty="0">
                <a:latin typeface="Arial" panose="020B0604020202020204" pitchFamily="34" charset="0"/>
              </a:rPr>
              <a:t> za </a:t>
            </a:r>
            <a:r>
              <a:rPr lang="en-US" altLang="en-US" sz="2000" dirty="0" err="1">
                <a:latin typeface="Arial" panose="020B0604020202020204" pitchFamily="34" charset="0"/>
              </a:rPr>
              <a:t>prijavljene</a:t>
            </a:r>
            <a:r>
              <a:rPr lang="en-US" altLang="en-US" sz="2000" dirty="0">
                <a:latin typeface="Arial" panose="020B0604020202020204" pitchFamily="34" charset="0"/>
              </a:rPr>
              <a:t> in </a:t>
            </a:r>
            <a:r>
              <a:rPr lang="en-US" altLang="en-US" sz="2000" dirty="0" err="1">
                <a:latin typeface="Arial" panose="020B0604020202020204" pitchFamily="34" charset="0"/>
              </a:rPr>
              <a:t>neprijavljene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uporabnike</a:t>
            </a:r>
            <a:endParaRPr lang="sr-Latn-RS" altLang="en-US" sz="2000" dirty="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"</a:t>
            </a:r>
            <a:r>
              <a:rPr lang="en-GB" sz="2000" dirty="0" err="1"/>
              <a:t>Enostavna</a:t>
            </a:r>
            <a:r>
              <a:rPr lang="en-GB" sz="2000" dirty="0"/>
              <a:t>" in "</a:t>
            </a:r>
            <a:r>
              <a:rPr lang="en-GB" sz="2000" dirty="0" err="1"/>
              <a:t>kompleksnejša</a:t>
            </a:r>
            <a:r>
              <a:rPr lang="en-GB" sz="2000" dirty="0"/>
              <a:t>" </a:t>
            </a:r>
            <a:r>
              <a:rPr lang="en-GB" sz="2000" dirty="0" err="1"/>
              <a:t>analiza</a:t>
            </a:r>
            <a:r>
              <a:rPr lang="en-GB" sz="2000" dirty="0"/>
              <a:t> </a:t>
            </a:r>
            <a:r>
              <a:rPr lang="en-GB" sz="2000" dirty="0" err="1"/>
              <a:t>sumljivih</a:t>
            </a:r>
            <a:r>
              <a:rPr lang="en-GB" sz="2000" dirty="0"/>
              <a:t> </a:t>
            </a:r>
            <a:r>
              <a:rPr lang="en-GB" sz="2000" dirty="0" err="1"/>
              <a:t>odtisov</a:t>
            </a:r>
            <a:endParaRPr lang="sr-Latn-R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/>
              <a:t>Pregled</a:t>
            </a:r>
            <a:r>
              <a:rPr lang="en-GB" sz="2000" dirty="0"/>
              <a:t> </a:t>
            </a:r>
            <a:r>
              <a:rPr lang="en-GB" sz="2000" dirty="0" err="1"/>
              <a:t>zgodovine</a:t>
            </a:r>
            <a:r>
              <a:rPr lang="en-GB" sz="2000" dirty="0"/>
              <a:t> </a:t>
            </a:r>
            <a:r>
              <a:rPr lang="en-GB" sz="2000" dirty="0" err="1"/>
              <a:t>preteklih</a:t>
            </a:r>
            <a:r>
              <a:rPr lang="en-GB" sz="2000" dirty="0"/>
              <a:t> </a:t>
            </a:r>
            <a:r>
              <a:rPr lang="en-GB" sz="2000" dirty="0" err="1"/>
              <a:t>fingerprintov</a:t>
            </a:r>
            <a:endParaRPr lang="en-GB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D1805F-0408-8E68-BDA5-103518EB2A55}"/>
              </a:ext>
            </a:extLst>
          </p:cNvPr>
          <p:cNvSpPr txBox="1">
            <a:spLocks/>
          </p:cNvSpPr>
          <p:nvPr/>
        </p:nvSpPr>
        <p:spPr bwMode="white">
          <a:xfrm>
            <a:off x="838201" y="464050"/>
            <a:ext cx="10840914" cy="1260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 err="1"/>
              <a:t>Ključne</a:t>
            </a:r>
            <a:r>
              <a:rPr lang="en-GB" dirty="0"/>
              <a:t> </a:t>
            </a:r>
            <a:r>
              <a:rPr lang="en-GB" dirty="0" err="1"/>
              <a:t>funkcionalnosti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45035A-5216-E036-960F-6A6ABAC1392B}"/>
              </a:ext>
            </a:extLst>
          </p:cNvPr>
          <p:cNvSpPr txBox="1"/>
          <p:nvPr/>
        </p:nvSpPr>
        <p:spPr>
          <a:xfrm>
            <a:off x="685801" y="4693282"/>
            <a:ext cx="5024773" cy="9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RS" sz="2000" dirty="0"/>
              <a:t>Admin panel (pregled podatkov, statistika)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RS" sz="2000" dirty="0"/>
              <a:t>Izvoz podatkov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072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014E-CB51-1A8E-AA08-E238208B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Arhitektura</a:t>
            </a:r>
            <a:r>
              <a:rPr lang="en-GB" dirty="0"/>
              <a:t> </a:t>
            </a:r>
            <a:r>
              <a:rPr lang="en-GB" dirty="0" err="1"/>
              <a:t>sistema</a:t>
            </a:r>
            <a:r>
              <a:rPr lang="sr-Latn-RS" dirty="0"/>
              <a:t> &amp; Deploy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B8E9F-D61B-FAF9-D2BD-DB08DE7A2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3074540" cy="3921601"/>
          </a:xfrm>
        </p:spPr>
        <p:txBody>
          <a:bodyPr/>
          <a:lstStyle/>
          <a:p>
            <a:pPr marL="0" indent="0" algn="ctr">
              <a:buNone/>
            </a:pPr>
            <a:r>
              <a:rPr lang="sr-Latn-RS" dirty="0"/>
              <a:t>BACKEND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A9FF0-86E8-8011-4ACA-BE77A05BC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5071" y="1869600"/>
            <a:ext cx="4067675" cy="3921600"/>
          </a:xfrm>
        </p:spPr>
        <p:txBody>
          <a:bodyPr/>
          <a:lstStyle/>
          <a:p>
            <a:pPr marL="0" indent="0" algn="ctr">
              <a:buNone/>
            </a:pPr>
            <a:r>
              <a:rPr lang="sr-Latn-RS" dirty="0"/>
              <a:t>FRONTEND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E599D0-DFE3-4483-533C-F5F810C87924}"/>
              </a:ext>
            </a:extLst>
          </p:cNvPr>
          <p:cNvSpPr txBox="1">
            <a:spLocks/>
          </p:cNvSpPr>
          <p:nvPr/>
        </p:nvSpPr>
        <p:spPr bwMode="white">
          <a:xfrm>
            <a:off x="8431658" y="1869600"/>
            <a:ext cx="307454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vert="horz" lIns="91440" tIns="45720" rIns="91440" bIns="45720" rtlCol="0" anchor="t" anchorCtr="0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r-Latn-RS" dirty="0"/>
              <a:t>BAZA</a:t>
            </a:r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E29B4BE-BEEC-E8EB-E6BB-11872F04C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084" y="2618460"/>
            <a:ext cx="810540" cy="810540"/>
          </a:xfrm>
          <a:prstGeom prst="rect">
            <a:avLst/>
          </a:prstGeom>
        </p:spPr>
      </p:pic>
      <p:pic>
        <p:nvPicPr>
          <p:cNvPr id="11" name="Picture 10" descr="A blue square with white letters&#10;&#10;AI-generated content may be incorrect.">
            <a:extLst>
              <a:ext uri="{FF2B5EF4-FFF2-40B4-BE49-F238E27FC236}">
                <a16:creationId xmlns:a16="http://schemas.microsoft.com/office/drawing/2014/main" id="{85A95449-6AD2-D8EB-39DC-2E99DB890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108" y="2618460"/>
            <a:ext cx="810540" cy="81054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7C4CF68-BDEA-8004-26EF-149F5D165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0583" y="3683672"/>
            <a:ext cx="2396649" cy="830199"/>
          </a:xfrm>
          <a:prstGeom prst="rect">
            <a:avLst/>
          </a:prstGeom>
        </p:spPr>
      </p:pic>
      <p:pic>
        <p:nvPicPr>
          <p:cNvPr id="17" name="Picture 16" descr="A black and white logo&#10;&#10;AI-generated content may be incorrect.">
            <a:extLst>
              <a:ext uri="{FF2B5EF4-FFF2-40B4-BE49-F238E27FC236}">
                <a16:creationId xmlns:a16="http://schemas.microsoft.com/office/drawing/2014/main" id="{027EFA60-5F43-AB3C-D8EE-A1E355B630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388" y="4902312"/>
            <a:ext cx="1363038" cy="681519"/>
          </a:xfrm>
          <a:prstGeom prst="rect">
            <a:avLst/>
          </a:prstGeom>
        </p:spPr>
      </p:pic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BF365097-B700-5C3A-78EB-1E21741574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1553" y="4902311"/>
            <a:ext cx="1363038" cy="681519"/>
          </a:xfrm>
          <a:prstGeom prst="rect">
            <a:avLst/>
          </a:prstGeom>
        </p:spPr>
      </p:pic>
      <p:pic>
        <p:nvPicPr>
          <p:cNvPr id="20" name="Picture 19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32680D1E-83D5-8760-722C-89F70B1F36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170" y="2283213"/>
            <a:ext cx="1016766" cy="1016766"/>
          </a:xfrm>
          <a:prstGeom prst="rect">
            <a:avLst/>
          </a:prstGeom>
        </p:spPr>
      </p:pic>
      <p:pic>
        <p:nvPicPr>
          <p:cNvPr id="22" name="Picture 21" descr="A white lightning bolt in a green circle&#10;&#10;AI-generated content may be incorrect.">
            <a:extLst>
              <a:ext uri="{FF2B5EF4-FFF2-40B4-BE49-F238E27FC236}">
                <a16:creationId xmlns:a16="http://schemas.microsoft.com/office/drawing/2014/main" id="{D8CD6C5E-3359-06AD-F21D-61142A6B09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5015" y="2375681"/>
            <a:ext cx="846387" cy="84638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7890946-700E-021C-1A16-A7F4F8C3C0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42337" y="3558022"/>
            <a:ext cx="761469" cy="76146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C174EC-3B2D-95CB-4537-6A489BB68D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69447" y="3558022"/>
            <a:ext cx="2398962" cy="2398962"/>
          </a:xfrm>
          <a:prstGeom prst="rect">
            <a:avLst/>
          </a:prstGeom>
        </p:spPr>
      </p:pic>
      <p:pic>
        <p:nvPicPr>
          <p:cNvPr id="28" name="Picture 27" descr="A blue elephant with black background&#10;&#10;AI-generated content may be incorrect.">
            <a:extLst>
              <a:ext uri="{FF2B5EF4-FFF2-40B4-BE49-F238E27FC236}">
                <a16:creationId xmlns:a16="http://schemas.microsoft.com/office/drawing/2014/main" id="{8231BAB8-B9B4-099C-E535-507C822751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6163" y="2623213"/>
            <a:ext cx="1353529" cy="135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5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D804E8-A309-1CF3-A751-B5F7EC916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38617" cy="29862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4299D-ED64-9DA5-42BD-6573BBA0E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617" y="0"/>
            <a:ext cx="6682216" cy="2195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3CA0F9-EC33-F4A3-0C25-A6BE92BFA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328" y="2195885"/>
            <a:ext cx="4609672" cy="46644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2270E6-71B1-B58D-C993-326614298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684" y="2193558"/>
            <a:ext cx="2119263" cy="46644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CBA26A-DD39-E1AA-68EA-945767E5D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993273"/>
            <a:ext cx="5519446" cy="351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7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C8EA-86DE-BFCC-8580-A51BD2F7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Testiranje</a:t>
            </a:r>
            <a:r>
              <a:rPr lang="en-GB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A07F6-8DAE-94DA-FF15-9E5AEF0A2FD7}"/>
              </a:ext>
            </a:extLst>
          </p:cNvPr>
          <p:cNvSpPr txBox="1"/>
          <p:nvPr/>
        </p:nvSpPr>
        <p:spPr>
          <a:xfrm>
            <a:off x="685801" y="1869600"/>
            <a:ext cx="9028818" cy="16767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Sonar </a:t>
            </a:r>
            <a:r>
              <a:rPr lang="en-GB" dirty="0" err="1"/>
              <a:t>Qube</a:t>
            </a:r>
            <a:r>
              <a:rPr lang="sr-Latn-RS" dirty="0"/>
              <a:t> - </a:t>
            </a:r>
            <a:r>
              <a:rPr lang="en-GB" dirty="0" err="1"/>
              <a:t>statična</a:t>
            </a:r>
            <a:r>
              <a:rPr lang="en-GB" dirty="0"/>
              <a:t> </a:t>
            </a:r>
            <a:r>
              <a:rPr lang="en-GB" dirty="0" err="1"/>
              <a:t>analiza</a:t>
            </a:r>
            <a:r>
              <a:rPr lang="en-GB" dirty="0"/>
              <a:t> </a:t>
            </a:r>
            <a:r>
              <a:rPr lang="en-GB" dirty="0" err="1"/>
              <a:t>kode</a:t>
            </a:r>
            <a:r>
              <a:rPr lang="en-GB" dirty="0"/>
              <a:t>, </a:t>
            </a:r>
            <a:r>
              <a:rPr lang="en-GB" dirty="0" err="1"/>
              <a:t>preverjanje</a:t>
            </a:r>
            <a:r>
              <a:rPr lang="en-GB" dirty="0"/>
              <a:t> </a:t>
            </a:r>
            <a:r>
              <a:rPr lang="en-GB" dirty="0" err="1"/>
              <a:t>ranljivosti</a:t>
            </a:r>
            <a:r>
              <a:rPr lang="en-GB" dirty="0"/>
              <a:t>, </a:t>
            </a:r>
            <a:r>
              <a:rPr lang="en-GB" dirty="0" err="1"/>
              <a:t>podvojenih</a:t>
            </a:r>
            <a:r>
              <a:rPr lang="en-GB" dirty="0"/>
              <a:t> </a:t>
            </a:r>
            <a:r>
              <a:rPr lang="en-GB" dirty="0" err="1"/>
              <a:t>blokov</a:t>
            </a:r>
            <a:r>
              <a:rPr lang="en-GB" dirty="0"/>
              <a:t> in </a:t>
            </a:r>
            <a:r>
              <a:rPr lang="en-GB" dirty="0" err="1"/>
              <a:t>kakovosti</a:t>
            </a:r>
            <a:r>
              <a:rPr lang="en-GB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Pytest</a:t>
            </a:r>
            <a:r>
              <a:rPr lang="sr-Latn-RS" dirty="0"/>
              <a:t> -a</a:t>
            </a:r>
            <a:r>
              <a:rPr lang="en-GB" dirty="0" err="1"/>
              <a:t>vtomatizirani</a:t>
            </a:r>
            <a:r>
              <a:rPr lang="en-GB" dirty="0"/>
              <a:t> </a:t>
            </a:r>
            <a:r>
              <a:rPr lang="en-GB" dirty="0" err="1"/>
              <a:t>testi</a:t>
            </a:r>
            <a:r>
              <a:rPr lang="en-GB" dirty="0"/>
              <a:t> backend </a:t>
            </a:r>
            <a:r>
              <a:rPr lang="en-GB" dirty="0" err="1"/>
              <a:t>funkcij</a:t>
            </a:r>
            <a:r>
              <a:rPr lang="en-GB" dirty="0"/>
              <a:t> </a:t>
            </a:r>
            <a:endParaRPr lang="sr-Latn-R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Ro</a:t>
            </a:r>
            <a:r>
              <a:rPr lang="sr-Latn-RS" dirty="0"/>
              <a:t>čno testiranje - </a:t>
            </a:r>
            <a:r>
              <a:rPr lang="en-GB" dirty="0" err="1"/>
              <a:t>preverjanje</a:t>
            </a:r>
            <a:r>
              <a:rPr lang="en-GB" dirty="0"/>
              <a:t> </a:t>
            </a:r>
            <a:r>
              <a:rPr lang="en-GB" dirty="0" err="1"/>
              <a:t>delovanja</a:t>
            </a:r>
            <a:r>
              <a:rPr lang="en-GB" dirty="0"/>
              <a:t> </a:t>
            </a:r>
            <a:r>
              <a:rPr lang="en-GB" dirty="0" err="1"/>
              <a:t>ključnih</a:t>
            </a:r>
            <a:r>
              <a:rPr lang="en-GB" dirty="0"/>
              <a:t> </a:t>
            </a:r>
            <a:r>
              <a:rPr lang="en-GB" dirty="0" err="1"/>
              <a:t>funkcionalnosti</a:t>
            </a:r>
            <a:r>
              <a:rPr lang="en-GB" dirty="0"/>
              <a:t> </a:t>
            </a:r>
            <a:r>
              <a:rPr lang="en-GB" dirty="0" err="1"/>
              <a:t>prek</a:t>
            </a:r>
            <a:r>
              <a:rPr lang="en-GB" dirty="0"/>
              <a:t> UI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4CF5A28-1C70-6613-190D-1A1538708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977" y="4152899"/>
            <a:ext cx="1880681" cy="188068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1D71401-11BE-EAB6-E47D-4CF3C096B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4994" y="3429000"/>
            <a:ext cx="3328481" cy="332848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6550212-465A-BCCA-E9C9-6A75E5C894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1836" y="4225924"/>
            <a:ext cx="1807656" cy="180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AF005B-9BB1-D3B4-2FC2-35BB71ADC880}"/>
              </a:ext>
            </a:extLst>
          </p:cNvPr>
          <p:cNvSpPr txBox="1"/>
          <p:nvPr/>
        </p:nvSpPr>
        <p:spPr>
          <a:xfrm>
            <a:off x="6919669" y="730869"/>
            <a:ext cx="4445448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RS" b="1" dirty="0"/>
              <a:t>A</a:t>
            </a:r>
            <a:r>
              <a:rPr lang="en-GB" b="1" dirty="0" err="1"/>
              <a:t>giln</a:t>
            </a:r>
            <a:r>
              <a:rPr lang="sr-Latn-RS" b="1" dirty="0"/>
              <a:t>i</a:t>
            </a:r>
            <a:r>
              <a:rPr lang="en-GB" b="1" dirty="0"/>
              <a:t> </a:t>
            </a:r>
            <a:r>
              <a:rPr lang="en-GB" b="1" dirty="0" err="1"/>
              <a:t>pristopu</a:t>
            </a:r>
            <a:r>
              <a:rPr lang="en-GB" b="1" dirty="0"/>
              <a:t> s </a:t>
            </a:r>
            <a:r>
              <a:rPr lang="en-GB" b="1" dirty="0" err="1"/>
              <a:t>pomočjo</a:t>
            </a:r>
            <a:r>
              <a:rPr lang="en-GB" b="1" dirty="0"/>
              <a:t> Kanban table,</a:t>
            </a:r>
            <a:endParaRPr lang="sr-Latn-R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RS" b="1" dirty="0"/>
              <a:t>Sprinti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RS" b="1" dirty="0"/>
              <a:t>Tedenski in dnevni sestanki</a:t>
            </a:r>
            <a:endParaRPr lang="en-GB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F64D158-DA21-5466-8CC6-2BD6D046D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33240" y="-1234913"/>
            <a:ext cx="7352909" cy="4901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F5982E-4B2A-442A-5632-76E784030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87" y="2667169"/>
            <a:ext cx="11145625" cy="365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1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F4E2-2A92-7AD2-32C9-08763C25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43" y="326796"/>
            <a:ext cx="10840914" cy="1260000"/>
          </a:xfrm>
        </p:spPr>
        <p:txBody>
          <a:bodyPr/>
          <a:lstStyle/>
          <a:p>
            <a:r>
              <a:rPr lang="sr-Latn-RS" dirty="0"/>
              <a:t>Zaključek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20483-A44D-47A4-26D5-DBB1B475B9AC}"/>
              </a:ext>
            </a:extLst>
          </p:cNvPr>
          <p:cNvSpPr txBox="1"/>
          <p:nvPr/>
        </p:nvSpPr>
        <p:spPr>
          <a:xfrm>
            <a:off x="1146883" y="1491146"/>
            <a:ext cx="91754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Kaj </a:t>
            </a:r>
            <a:r>
              <a:rPr lang="en-GB" sz="2400" b="1" dirty="0" err="1"/>
              <a:t>smo</a:t>
            </a:r>
            <a:r>
              <a:rPr lang="en-GB" sz="2400" b="1" dirty="0"/>
              <a:t> </a:t>
            </a:r>
            <a:r>
              <a:rPr lang="en-GB" sz="2400" b="1" dirty="0" err="1"/>
              <a:t>dosegli</a:t>
            </a:r>
            <a:r>
              <a:rPr lang="en-GB" sz="2400" b="1" dirty="0"/>
              <a:t>:</a:t>
            </a:r>
            <a:endParaRPr lang="sr-Latn-RS" sz="2400" b="1" dirty="0"/>
          </a:p>
          <a:p>
            <a:pPr>
              <a:buNone/>
            </a:pPr>
            <a:endParaRPr lang="sr-Latn-R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Uspešno</a:t>
            </a:r>
            <a:r>
              <a:rPr lang="en-GB" sz="2400" dirty="0"/>
              <a:t> </a:t>
            </a:r>
            <a:r>
              <a:rPr lang="en-GB" sz="2400" dirty="0" err="1"/>
              <a:t>smo</a:t>
            </a:r>
            <a:r>
              <a:rPr lang="en-GB" sz="2400" dirty="0"/>
              <a:t> </a:t>
            </a:r>
            <a:r>
              <a:rPr lang="en-GB" sz="2400" dirty="0" err="1"/>
              <a:t>razvili</a:t>
            </a:r>
            <a:r>
              <a:rPr lang="en-GB" sz="2400" dirty="0"/>
              <a:t> </a:t>
            </a:r>
            <a:r>
              <a:rPr lang="en-GB" sz="2400" dirty="0" err="1"/>
              <a:t>spletno</a:t>
            </a:r>
            <a:r>
              <a:rPr lang="en-GB" sz="2400" dirty="0"/>
              <a:t> </a:t>
            </a:r>
            <a:r>
              <a:rPr lang="en-GB" sz="2400" dirty="0" err="1"/>
              <a:t>aplikacijo</a:t>
            </a:r>
            <a:r>
              <a:rPr lang="en-GB" sz="2400" dirty="0"/>
              <a:t> za </a:t>
            </a:r>
            <a:r>
              <a:rPr lang="en-GB" sz="2400" dirty="0" err="1"/>
              <a:t>zajem</a:t>
            </a:r>
            <a:r>
              <a:rPr lang="en-GB" sz="2400" dirty="0"/>
              <a:t> in </a:t>
            </a:r>
            <a:r>
              <a:rPr lang="en-GB" sz="2400" dirty="0" err="1"/>
              <a:t>analizo</a:t>
            </a:r>
            <a:r>
              <a:rPr lang="en-GB" sz="2400" dirty="0"/>
              <a:t> </a:t>
            </a:r>
            <a:r>
              <a:rPr lang="en-GB" sz="2400" dirty="0" err="1"/>
              <a:t>digitalnih</a:t>
            </a:r>
            <a:r>
              <a:rPr lang="en-GB" sz="2400" dirty="0"/>
              <a:t> </a:t>
            </a:r>
            <a:r>
              <a:rPr lang="en-GB" sz="2400" dirty="0" err="1"/>
              <a:t>odtisov</a:t>
            </a:r>
            <a:r>
              <a:rPr lang="en-GB" sz="2400" dirty="0"/>
              <a:t> </a:t>
            </a:r>
            <a:r>
              <a:rPr lang="en-GB" sz="2400" dirty="0" err="1"/>
              <a:t>brskalnika</a:t>
            </a:r>
            <a:r>
              <a:rPr lang="en-GB" sz="2400" dirty="0"/>
              <a:t>.</a:t>
            </a:r>
            <a:endParaRPr lang="sr-Latn-R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Uporabnikom</a:t>
            </a:r>
            <a:r>
              <a:rPr lang="en-GB" sz="2400" dirty="0"/>
              <a:t> </a:t>
            </a:r>
            <a:r>
              <a:rPr lang="en-GB" sz="2400" dirty="0" err="1"/>
              <a:t>omogočamo</a:t>
            </a:r>
            <a:r>
              <a:rPr lang="en-GB" sz="2400" dirty="0"/>
              <a:t> </a:t>
            </a:r>
            <a:r>
              <a:rPr lang="en-GB" sz="2400" dirty="0" err="1"/>
              <a:t>pregled</a:t>
            </a:r>
            <a:r>
              <a:rPr lang="en-GB" sz="2400" dirty="0"/>
              <a:t> </a:t>
            </a:r>
            <a:r>
              <a:rPr lang="en-GB" sz="2400" dirty="0" err="1"/>
              <a:t>zgodovine</a:t>
            </a:r>
            <a:r>
              <a:rPr lang="en-GB" sz="2400" dirty="0"/>
              <a:t> in </a:t>
            </a:r>
            <a:r>
              <a:rPr lang="en-GB" sz="2400" dirty="0" err="1"/>
              <a:t>označevanje</a:t>
            </a:r>
            <a:r>
              <a:rPr lang="en-GB" sz="2400" dirty="0"/>
              <a:t> </a:t>
            </a:r>
            <a:r>
              <a:rPr lang="en-GB" sz="2400" dirty="0" err="1"/>
              <a:t>sumljivih</a:t>
            </a:r>
            <a:r>
              <a:rPr lang="en-GB" sz="2400" dirty="0"/>
              <a:t> </a:t>
            </a:r>
            <a:r>
              <a:rPr lang="en-GB" sz="2400" dirty="0" err="1"/>
              <a:t>odtisov</a:t>
            </a:r>
            <a:r>
              <a:rPr lang="en-GB" sz="2400" dirty="0"/>
              <a:t>.</a:t>
            </a:r>
            <a:endParaRPr lang="sr-Latn-R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Vzpostavili</a:t>
            </a:r>
            <a:r>
              <a:rPr lang="en-GB" sz="2400" dirty="0"/>
              <a:t> </a:t>
            </a:r>
            <a:r>
              <a:rPr lang="en-GB" sz="2400" dirty="0" err="1"/>
              <a:t>smo</a:t>
            </a:r>
            <a:r>
              <a:rPr lang="en-GB" sz="2400" dirty="0"/>
              <a:t> </a:t>
            </a:r>
            <a:r>
              <a:rPr lang="en-GB" sz="2400" dirty="0" err="1"/>
              <a:t>varen</a:t>
            </a:r>
            <a:r>
              <a:rPr lang="en-GB" sz="2400" dirty="0"/>
              <a:t> </a:t>
            </a:r>
            <a:r>
              <a:rPr lang="en-GB" sz="2400" dirty="0" err="1"/>
              <a:t>sistem</a:t>
            </a:r>
            <a:r>
              <a:rPr lang="en-GB" sz="2400" dirty="0"/>
              <a:t> z JWT </a:t>
            </a:r>
            <a:r>
              <a:rPr lang="en-GB" sz="2400" dirty="0" err="1"/>
              <a:t>prijavo</a:t>
            </a:r>
            <a:r>
              <a:rPr lang="en-GB" sz="2400" dirty="0"/>
              <a:t>, 2FA </a:t>
            </a:r>
            <a:r>
              <a:rPr lang="en-GB" sz="2400" dirty="0" err="1"/>
              <a:t>zaščito</a:t>
            </a:r>
            <a:r>
              <a:rPr lang="en-GB" sz="2400" dirty="0"/>
              <a:t> in RLS </a:t>
            </a:r>
            <a:r>
              <a:rPr lang="en-GB" sz="2400" dirty="0" err="1"/>
              <a:t>politiko</a:t>
            </a:r>
            <a:r>
              <a:rPr lang="en-GB" sz="2400" dirty="0"/>
              <a:t>.</a:t>
            </a:r>
            <a:endParaRPr lang="sr-Latn-R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>
              <a:buNone/>
            </a:pPr>
            <a:r>
              <a:rPr lang="en-GB" sz="2400" b="1" dirty="0"/>
              <a:t>Kaj </a:t>
            </a:r>
            <a:r>
              <a:rPr lang="en-GB" sz="2400" b="1" dirty="0" err="1"/>
              <a:t>ni</a:t>
            </a:r>
            <a:r>
              <a:rPr lang="en-GB" sz="2400" b="1" dirty="0"/>
              <a:t> </a:t>
            </a:r>
            <a:r>
              <a:rPr lang="en-GB" sz="2400" b="1" dirty="0" err="1"/>
              <a:t>bilo</a:t>
            </a:r>
            <a:r>
              <a:rPr lang="en-GB" sz="2400" b="1" dirty="0"/>
              <a:t> v </a:t>
            </a:r>
            <a:r>
              <a:rPr lang="en-GB" sz="2400" b="1" dirty="0" err="1"/>
              <a:t>celoti</a:t>
            </a:r>
            <a:r>
              <a:rPr lang="en-GB" sz="2400" b="1" dirty="0"/>
              <a:t> </a:t>
            </a:r>
            <a:r>
              <a:rPr lang="en-GB" sz="2400" b="1" dirty="0" err="1"/>
              <a:t>izvedeno</a:t>
            </a:r>
            <a:r>
              <a:rPr lang="en-GB" sz="2400" b="1" dirty="0"/>
              <a:t>:</a:t>
            </a:r>
            <a:endParaRPr lang="sr-Latn-RS" sz="2400" b="1" dirty="0"/>
          </a:p>
          <a:p>
            <a:pPr>
              <a:buNone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Napredna</a:t>
            </a:r>
            <a:r>
              <a:rPr lang="en-GB" sz="2400" dirty="0"/>
              <a:t> </a:t>
            </a:r>
            <a:r>
              <a:rPr lang="en-GB" sz="2400" dirty="0" err="1"/>
              <a:t>analiza</a:t>
            </a:r>
            <a:r>
              <a:rPr lang="en-GB" sz="2400" dirty="0"/>
              <a:t> s </a:t>
            </a:r>
            <a:r>
              <a:rPr lang="en-GB" sz="2400" dirty="0" err="1"/>
              <a:t>strojnim</a:t>
            </a:r>
            <a:r>
              <a:rPr lang="en-GB" sz="2400" dirty="0"/>
              <a:t> </a:t>
            </a:r>
            <a:r>
              <a:rPr lang="en-GB" sz="2400" dirty="0" err="1"/>
              <a:t>učenjem</a:t>
            </a:r>
            <a:r>
              <a:rPr lang="en-GB" sz="2400" dirty="0"/>
              <a:t> </a:t>
            </a:r>
            <a:r>
              <a:rPr lang="en-GB" sz="2400" dirty="0" err="1"/>
              <a:t>še</a:t>
            </a:r>
            <a:r>
              <a:rPr lang="en-GB" sz="2400" dirty="0"/>
              <a:t> </a:t>
            </a:r>
            <a:r>
              <a:rPr lang="en-GB" sz="2400" dirty="0" err="1"/>
              <a:t>ni</a:t>
            </a:r>
            <a:r>
              <a:rPr lang="en-GB" sz="2400" dirty="0"/>
              <a:t> </a:t>
            </a:r>
            <a:r>
              <a:rPr lang="en-GB" sz="2400" dirty="0" err="1"/>
              <a:t>vključena</a:t>
            </a:r>
            <a:r>
              <a:rPr lang="en-GB" sz="2400" dirty="0"/>
              <a:t> </a:t>
            </a:r>
            <a:r>
              <a:rPr lang="en-GB" sz="2400" dirty="0" err="1"/>
              <a:t>zaradi</a:t>
            </a:r>
            <a:r>
              <a:rPr lang="en-GB" sz="2400" dirty="0"/>
              <a:t> </a:t>
            </a:r>
            <a:r>
              <a:rPr lang="en-GB" sz="2400" dirty="0" err="1"/>
              <a:t>premalo</a:t>
            </a:r>
            <a:r>
              <a:rPr lang="en-GB" sz="2400" dirty="0"/>
              <a:t> </a:t>
            </a:r>
            <a:r>
              <a:rPr lang="en-GB" sz="2400" dirty="0" err="1"/>
              <a:t>realnih</a:t>
            </a:r>
            <a:r>
              <a:rPr lang="en-GB" sz="2400" dirty="0"/>
              <a:t> </a:t>
            </a:r>
            <a:r>
              <a:rPr lang="en-GB" sz="2400" dirty="0" err="1"/>
              <a:t>podatkov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04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9320-F050-BC4C-8CB0-E5A0CF5F9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Povezave</a:t>
            </a:r>
            <a:endParaRPr lang="en-GB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F331CFC5-85EC-1918-63EB-2AFD6969A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70" y="2645923"/>
            <a:ext cx="1566153" cy="1566153"/>
          </a:xfrm>
          <a:prstGeom prst="rect">
            <a:avLst/>
          </a:prstGeom>
        </p:spPr>
      </p:pic>
      <p:pic>
        <p:nvPicPr>
          <p:cNvPr id="7" name="Picture 6" descr="A black and grey play button&#10;&#10;AI-generated content may be incorrect.">
            <a:hlinkClick r:id="rId4"/>
            <a:extLst>
              <a:ext uri="{FF2B5EF4-FFF2-40B4-BE49-F238E27FC236}">
                <a16:creationId xmlns:a16="http://schemas.microsoft.com/office/drawing/2014/main" id="{8FCB9774-E2B4-AA10-3BEE-0749A4B15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723" y="2124683"/>
            <a:ext cx="2608634" cy="2608634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C5270784-FCB7-CC2A-C304-A117482CA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973" y="2598095"/>
            <a:ext cx="1661810" cy="1661810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hlinkClick r:id="rId8"/>
            <a:extLst>
              <a:ext uri="{FF2B5EF4-FFF2-40B4-BE49-F238E27FC236}">
                <a16:creationId xmlns:a16="http://schemas.microsoft.com/office/drawing/2014/main" id="{8D45407D-5173-F382-C8F8-AAAB0F5C25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6694" y="2286811"/>
            <a:ext cx="2284378" cy="22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00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6F34-6549-6E30-9259-602465AE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43" y="2799000"/>
            <a:ext cx="10840914" cy="1260000"/>
          </a:xfrm>
        </p:spPr>
        <p:txBody>
          <a:bodyPr>
            <a:normAutofit/>
          </a:bodyPr>
          <a:lstStyle/>
          <a:p>
            <a:pPr algn="ctr"/>
            <a:r>
              <a:rPr lang="sr-Latn-RS" sz="6600" b="1" dirty="0">
                <a:latin typeface="Amasis MT Pro Black" panose="02040A04050005020304" pitchFamily="18" charset="0"/>
              </a:rPr>
              <a:t>HVALA</a:t>
            </a:r>
            <a:endParaRPr lang="en-GB" sz="6600" b="1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592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0957918_TF22736411_Win32" id="{58F0EFE3-F026-48A7-B220-585F9F52E38A}" vid="{617051F5-F20B-42EC-8806-8F347C7403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Famous event in history presentation</Template>
  <TotalTime>57</TotalTime>
  <Words>193</Words>
  <Application>Microsoft Office PowerPoint</Application>
  <PresentationFormat>Widescreen</PresentationFormat>
  <Paragraphs>39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Amasis MT Pro Black</vt:lpstr>
      <vt:lpstr>Arial</vt:lpstr>
      <vt:lpstr>Calibri</vt:lpstr>
      <vt:lpstr>Corbel</vt:lpstr>
      <vt:lpstr>Celestial</vt:lpstr>
      <vt:lpstr>Tracebit</vt:lpstr>
      <vt:lpstr>Namen projekta</vt:lpstr>
      <vt:lpstr>Druge funkcionalnosti</vt:lpstr>
      <vt:lpstr>Arhitektura sistema &amp; Deploy</vt:lpstr>
      <vt:lpstr>PowerPoint Presentation</vt:lpstr>
      <vt:lpstr>Testiranje </vt:lpstr>
      <vt:lpstr>PowerPoint Presentation</vt:lpstr>
      <vt:lpstr>Zaključek</vt:lpstr>
      <vt:lpstr>Povezave</vt:lpstr>
      <vt:lpstr>HVALA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Majstorovic</dc:creator>
  <cp:lastModifiedBy>Luka Majstorovic</cp:lastModifiedBy>
  <cp:revision>1</cp:revision>
  <dcterms:created xsi:type="dcterms:W3CDTF">2025-07-07T16:55:56Z</dcterms:created>
  <dcterms:modified xsi:type="dcterms:W3CDTF">2025-07-07T17:53:01Z</dcterms:modified>
</cp:coreProperties>
</file>